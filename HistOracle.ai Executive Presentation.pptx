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Poppins" pitchFamily="2" charset="77"/>
      <p:regular r:id="rId27"/>
      <p:bold r:id="rId28"/>
      <p:italic r:id="rId29"/>
      <p:boldItalic r:id="rId30"/>
    </p:embeddedFont>
    <p:embeddedFont>
      <p:font typeface="Poppins SemiBold" panose="00000700000000000000" pitchFamily="2" charset="77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DAA66B-67D0-46E0-8443-8BDCEDFE6FF6}">
  <a:tblStyle styleId="{9BDAA66B-67D0-46E0-8443-8BDCEDFE6F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817489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HISTORACLE</a:t>
            </a:r>
            <a:r>
              <a:rPr lang="en-US" sz="54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.AI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762250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0A0"/>
                </a:solidFill>
                <a:latin typeface="Poppins"/>
                <a:ea typeface="Poppins"/>
                <a:cs typeface="Poppins"/>
                <a:sym typeface="Poppins"/>
              </a:rPr>
              <a:t>AI-Powered Content Intelligence &amp; Launch Strategy Platform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A0A0A0"/>
                </a:solidFill>
                <a:latin typeface="Poppins"/>
                <a:ea typeface="Poppins"/>
                <a:cs typeface="Poppins"/>
                <a:sym typeface="Poppins"/>
              </a:rPr>
              <a:t> Transforming content creation from guesswork into data-driven strategy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557462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5276" y="2881312"/>
            <a:ext cx="115814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CONTEXT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809750" y="359568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A strategic Business Intelligence consulting deliverable focused on immersive historical AI interaction and viral performance prediction.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67012"/>
            <a:ext cx="53244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67012"/>
            <a:ext cx="53244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186112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"Guesswork" Trap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667500" y="3186112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Critical Challenges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76300" y="37766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7766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Trial-and-error publication cycles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76300" y="40814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40814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Unstructured experimentation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43862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43862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Reactive instead of proactive planning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81775" y="37766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67500" y="37766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Platform volatility &amp; unpredictable reach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581775" y="40814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67500" y="40814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Difficulty identifying viral DNA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581775" y="43862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0" y="43862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Lack of integrated optimization systems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CONTENT STRATEGY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3024187"/>
            <a:ext cx="417954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4357687"/>
            <a:ext cx="41795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Intelligence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341590" y="3324225"/>
            <a:ext cx="658285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Predictive Advantage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341590" y="3600450"/>
            <a:ext cx="626938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What if content performance could be predicted before publishing? HistOracle.ai combines </a:t>
            </a:r>
            <a:r>
              <a:rPr lang="en-US" sz="1500" b="1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Historical Immersion</a:t>
            </a: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en-US" sz="1500" b="1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Predictive Analytics</a:t>
            </a: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 to create viral educational storytelling.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OPPORTUNITY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81025" y="31765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Analyze social media performance patterns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36718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Identify viral engagement structures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41671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Build predictive analytics capabilities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286500" y="31765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Design platform-specific strategies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286500" y="36718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Develop audience personas &amp; messaging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286500" y="41671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Create launch intelligence dashboard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28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24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19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228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724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2195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1919287"/>
            <a:ext cx="519064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ARCHITECTURE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3500437"/>
            <a:ext cx="4943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1. Data Layer: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Ingestion &amp; Feature Engineering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81025" y="3929062"/>
            <a:ext cx="4943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2. Analytics Layer: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Clustering &amp; Validation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81025" y="4357687"/>
            <a:ext cx="4943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3. Machine Learning: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Classification &amp; Optimization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81025" y="4786312"/>
            <a:ext cx="4943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4. Application Layer: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AI Coach &amp; Dashboards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47912"/>
            <a:ext cx="34861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47912"/>
            <a:ext cx="34861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47912"/>
            <a:ext cx="34861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93908" y="3509962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66775" y="398621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Random Forest Classification and K-Means Clustering for performance segmentation.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565808" y="3509962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Statistical Analysis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638675" y="3986212"/>
            <a:ext cx="29146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ANOVA testing and confidence intervals to validate strategic significance.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337708" y="3509962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BI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410575" y="398621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Interactive Plotly dashboards and Executive KPI tracking systems.</a:t>
            </a:r>
            <a:endParaRPr/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7289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7289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0725" y="272891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 &amp; ANALYTICS TECHNIQUES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57462"/>
            <a:ext cx="5324475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81025" y="2557462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Reliable Classification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283368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Instead of exact view prediction (too volatile), we utilize </a:t>
            </a:r>
            <a:r>
              <a:rPr lang="en-US" sz="1500" b="1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Performance Tiers</a:t>
            </a: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. This improves: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667500" y="29765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 Variables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667500" y="3281362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Platform + Topic + Hook Type + Content Format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6667500" y="4081462"/>
            <a:ext cx="45624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667500" y="429101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Output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667500" y="459581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Viral Probability % + Performance Tier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95300" y="36337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36337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Interpretability for decision-makers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5300" y="39385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39385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Strategic usability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495300" y="42433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4243387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Model reliability across platforms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PREDICTIVE ANALYTICS ENGINE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81237"/>
            <a:ext cx="34861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81237"/>
            <a:ext cx="34861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81237"/>
            <a:ext cx="34861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66987"/>
            <a:ext cx="29146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566987"/>
            <a:ext cx="29146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566987"/>
            <a:ext cx="29146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93908" y="4186237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Intelligence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66775" y="4662487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Platform War Room &amp; Viral DNA Engine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565808" y="4186237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Powered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38675" y="4662487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Teleport Experience &amp; AI Analyst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337708" y="4186237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Execution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410575" y="4662487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Launch Command &amp; Hook Lab</a:t>
            </a:r>
            <a:endParaRPr/>
          </a:p>
        </p:txBody>
      </p:sp>
      <p:pic>
        <p:nvPicPr>
          <p:cNvPr id="211" name="Google Shape;211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2576512"/>
            <a:ext cx="28956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8200" y="2576512"/>
            <a:ext cx="28956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0100" y="2576512"/>
            <a:ext cx="28956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MODULES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2362" y="1776412"/>
            <a:ext cx="5808612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52875"/>
            <a:ext cx="4840337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81025" y="2476500"/>
            <a:ext cx="50823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Immersive AI Interaction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81025" y="2752725"/>
            <a:ext cx="48403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Transforming history from passive learning into interactive engagement with historical figures like Napoleon.</a:t>
            </a:r>
            <a:endParaRPr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1887" y="1785937"/>
            <a:ext cx="10572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962025" y="4371975"/>
            <a:ext cx="40783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Value:</a:t>
            </a: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 High audience retention and unique product differentiation.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TELEPORT EXPERIENCE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27932"/>
            <a:ext cx="11029950" cy="1744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153792"/>
            <a:ext cx="5324475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153792"/>
            <a:ext cx="532447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962025" y="2408932"/>
            <a:ext cx="10267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Insight Alert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62025" y="2965102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"Question hooks on Instagram outperformed baseline engagement by </a:t>
            </a:r>
            <a:r>
              <a:rPr lang="en-US" sz="2100" b="0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2.8x</a:t>
            </a:r>
            <a:r>
              <a:rPr lang="en-US" sz="21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66775" y="4439542"/>
            <a:ext cx="499062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Operational Intelligence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66775" y="491579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The system identifies engagement spikes and viral outliers automatically.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572250" y="4439542"/>
            <a:ext cx="499062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Anomaly Detection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572250" y="491579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Detects when specific topics or formats deviate from standard performance norms.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DAILY BRIEF &amp; ANOMALIES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81025" y="21907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Validation ensures strategic decisions are based on meaningful data, not noise.</a:t>
            </a:r>
            <a:endParaRPr/>
          </a:p>
        </p:txBody>
      </p:sp>
      <p:graphicFrame>
        <p:nvGraphicFramePr>
          <p:cNvPr id="248" name="Google Shape;248;p24"/>
          <p:cNvGraphicFramePr/>
          <p:nvPr/>
        </p:nvGraphicFramePr>
        <p:xfrm>
          <a:off x="581025" y="29718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{9BDAA66B-67D0-46E0-8443-8BDCEDFE6FF6}</a:tableStyleId>
              </a:tblPr>
              <a:tblGrid>
                <a:gridCol w="29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5A05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5A05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Analytical 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5A05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Strategic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Engagement Variance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ANOVA Testing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Confirm platform performance differences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Strategic Certainty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Confidence Intervals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Define range of expected 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 Magnitude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Effect-Size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Measure the 'strength' of a content trend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9" name="Google Shape;249;p24"/>
          <p:cNvSpPr/>
          <p:nvPr/>
        </p:nvSpPr>
        <p:spPr>
          <a:xfrm>
            <a:off x="581025" y="3648075"/>
            <a:ext cx="298906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570089" y="3648075"/>
            <a:ext cx="2768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6338589" y="3648075"/>
            <a:ext cx="527238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81025" y="4319587"/>
            <a:ext cx="2989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3570089" y="4319587"/>
            <a:ext cx="27685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338589" y="4319587"/>
            <a:ext cx="52723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81025" y="4976812"/>
            <a:ext cx="2989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570089" y="4976812"/>
            <a:ext cx="27685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338589" y="4976812"/>
            <a:ext cx="52723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81025" y="5634037"/>
            <a:ext cx="2989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3570089" y="5634037"/>
            <a:ext cx="27685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6338589" y="5634037"/>
            <a:ext cx="527238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STATISTICAL REALITY CHECK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2933700"/>
            <a:ext cx="845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409950"/>
            <a:ext cx="845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886200"/>
            <a:ext cx="845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2775" y="2933700"/>
            <a:ext cx="71894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2775" y="3409950"/>
            <a:ext cx="608989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52775" y="3886200"/>
            <a:ext cx="380613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581025" y="460057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A0A0A0"/>
                </a:solidFill>
                <a:latin typeface="Poppins"/>
                <a:ea typeface="Poppins"/>
                <a:cs typeface="Poppins"/>
                <a:sym typeface="Poppins"/>
              </a:rPr>
              <a:t>Example Use Case: "I asked Napoleon why modern leaders fail" predicts a </a:t>
            </a:r>
            <a:r>
              <a:rPr lang="en-US" sz="1500" b="1" i="1" u="none" strike="noStrike" cap="none">
                <a:solidFill>
                  <a:srgbClr val="A0A0A0"/>
                </a:solidFill>
                <a:latin typeface="Poppins"/>
                <a:ea typeface="Poppins"/>
                <a:cs typeface="Poppins"/>
                <a:sym typeface="Poppins"/>
              </a:rPr>
              <a:t>Top-Tier</a:t>
            </a:r>
            <a:r>
              <a:rPr lang="en-US" sz="1500" b="0" i="1" u="none" strike="noStrike" cap="none">
                <a:solidFill>
                  <a:srgbClr val="A0A0A0"/>
                </a:solidFill>
                <a:latin typeface="Poppins"/>
                <a:ea typeface="Poppins"/>
                <a:cs typeface="Poppins"/>
                <a:sym typeface="Poppins"/>
              </a:rPr>
              <a:t> performance probability.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81025" y="2981325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Storytelling Format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581025" y="3457575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Debate-Driven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581025" y="3933825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Educational Deep-Dive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VIRAL PREDICTOR LOGIC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4512" y="245745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6286500" y="2771775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Transforming Insights into Assets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286500" y="3048000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The coach generates viral hooks, optimized scripts, and captions using psychological frameworks: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6200775" y="38481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6286500" y="38481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Curiosity Loops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6200775" y="41529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6286500" y="41529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Pattern Breaks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6200775" y="44577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286500" y="44577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Emotional Tension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200775" y="47625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286500" y="47625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Authority Positioning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CONTENT COACH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52712"/>
            <a:ext cx="34861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52712"/>
            <a:ext cx="34861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52712"/>
            <a:ext cx="348615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793908" y="3814762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History Enthusiasts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866775" y="4291012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Deep storytelling &amp; long-form consumption.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4565808" y="3814762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4638675" y="4291012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Short-form retention &amp; interactive learning.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8337708" y="3814762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AI-Curious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410575" y="4291012"/>
            <a:ext cx="2914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Immersive experience &amp; experimental tech adoption.</a:t>
            </a:r>
            <a:endParaRPr/>
          </a:p>
        </p:txBody>
      </p:sp>
      <p:pic>
        <p:nvPicPr>
          <p:cNvPr id="309" name="Google Shape;30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6925" y="30337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30337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7875" y="30337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AUDIENCE SEGMENTS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8" name="Google Shape;318;p28"/>
          <p:cNvGraphicFramePr/>
          <p:nvPr/>
        </p:nvGraphicFramePr>
        <p:xfrm>
          <a:off x="581025" y="26765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{9BDAA66B-67D0-46E0-8443-8BDCEDFE6FF6}</a:tableStyleId>
              </a:tblPr>
              <a:tblGrid>
                <a:gridCol w="239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5A05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5A05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Strength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5A05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Opportunity for HistOracle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Character.AI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Strong interaction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 educational immersion &amp; intelligence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Khan Academy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Trusted content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 interactive AI &amp; viral storytelling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ChatGPT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General knowledge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D1D1D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Add historical specialization &amp;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9" name="Google Shape;319;p28"/>
          <p:cNvSpPr/>
          <p:nvPr/>
        </p:nvSpPr>
        <p:spPr>
          <a:xfrm>
            <a:off x="581025" y="3352800"/>
            <a:ext cx="239776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2978794" y="3352800"/>
            <a:ext cx="293876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5917555" y="3352800"/>
            <a:ext cx="569341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81025" y="4024312"/>
            <a:ext cx="23977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2978794" y="4024312"/>
            <a:ext cx="29387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5917555" y="4024312"/>
            <a:ext cx="569341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581025" y="4681537"/>
            <a:ext cx="23977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2978794" y="4681537"/>
            <a:ext cx="29387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5917555" y="4681537"/>
            <a:ext cx="569341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581025" y="5338762"/>
            <a:ext cx="23977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2978794" y="5338762"/>
            <a:ext cx="293876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5917555" y="5338762"/>
            <a:ext cx="569341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COMPETITIVE LANDSCAPE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28787"/>
            <a:ext cx="53244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28787"/>
            <a:ext cx="53244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10037"/>
            <a:ext cx="53244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110037"/>
            <a:ext cx="53244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/>
        </p:nvSpPr>
        <p:spPr>
          <a:xfrm>
            <a:off x="962025" y="2147887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0050"/>
                </a:solidFill>
                <a:latin typeface="Poppins"/>
                <a:ea typeface="Poppins"/>
                <a:cs typeface="Poppins"/>
                <a:sym typeface="Poppins"/>
              </a:rPr>
              <a:t> TikTok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962025" y="273843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Fast-paced emotional storytelling and retention-focused edits.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667500" y="2147887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4405F"/>
                </a:solidFill>
                <a:latin typeface="Poppins"/>
                <a:ea typeface="Poppins"/>
                <a:cs typeface="Poppins"/>
                <a:sym typeface="Poppins"/>
              </a:rPr>
              <a:t> Instagram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6667500" y="273843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Short-form educational reels with curiosity-based hooks.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962025" y="4529137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YouTube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962025" y="511968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Long-form deep dives and immersive AI breakdowns.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6667500" y="4529137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X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6667500" y="5119687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Debate-driven engagement and historical AI threads.</a:t>
            </a:r>
            <a:endParaRPr/>
          </a:p>
        </p:txBody>
      </p:sp>
      <p:pic>
        <p:nvPicPr>
          <p:cNvPr id="349" name="Google Shape;34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205037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205037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458628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0" y="45862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STRATEGY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/>
          <p:nvPr/>
        </p:nvSpPr>
        <p:spPr>
          <a:xfrm>
            <a:off x="581025" y="4290938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498302" y="3503265"/>
            <a:ext cx="34743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 1</a:t>
            </a: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2121098" y="4160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 txBox="1"/>
          <p:nvPr/>
        </p:nvSpPr>
        <p:spPr>
          <a:xfrm>
            <a:off x="581025" y="4579590"/>
            <a:ext cx="33088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Awareness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581025" y="4884390"/>
            <a:ext cx="330889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Short-form content &amp; brand identity.</a:t>
            </a:r>
            <a:endParaRPr/>
          </a:p>
        </p:txBody>
      </p:sp>
      <p:sp>
        <p:nvSpPr>
          <p:cNvPr id="364" name="Google Shape;364;p30"/>
          <p:cNvSpPr txBox="1"/>
          <p:nvPr/>
        </p:nvSpPr>
        <p:spPr>
          <a:xfrm>
            <a:off x="4358755" y="3503265"/>
            <a:ext cx="34743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 2</a:t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5981551" y="4160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4441477" y="4579590"/>
            <a:ext cx="33088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Engagement</a:t>
            </a:r>
            <a:endParaRPr/>
          </a:p>
        </p:txBody>
      </p:sp>
      <p:sp>
        <p:nvSpPr>
          <p:cNvPr id="367" name="Google Shape;367;p30"/>
          <p:cNvSpPr txBox="1"/>
          <p:nvPr/>
        </p:nvSpPr>
        <p:spPr>
          <a:xfrm>
            <a:off x="4441477" y="4884390"/>
            <a:ext cx="330889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Community campaigns &amp; hook optimization.</a:t>
            </a:r>
            <a:endParaRPr/>
          </a:p>
        </p:txBody>
      </p:sp>
      <p:sp>
        <p:nvSpPr>
          <p:cNvPr id="368" name="Google Shape;368;p30"/>
          <p:cNvSpPr txBox="1"/>
          <p:nvPr/>
        </p:nvSpPr>
        <p:spPr>
          <a:xfrm>
            <a:off x="8219208" y="3503265"/>
            <a:ext cx="34743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 3</a:t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9842003" y="416049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 txBox="1"/>
          <p:nvPr/>
        </p:nvSpPr>
        <p:spPr>
          <a:xfrm>
            <a:off x="8301930" y="4579590"/>
            <a:ext cx="33088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Scaling</a:t>
            </a:r>
            <a:endParaRPr/>
          </a:p>
        </p:txBody>
      </p:sp>
      <p:sp>
        <p:nvSpPr>
          <p:cNvPr id="371" name="Google Shape;371;p30"/>
          <p:cNvSpPr txBox="1"/>
          <p:nvPr/>
        </p:nvSpPr>
        <p:spPr>
          <a:xfrm>
            <a:off x="8301930" y="4884390"/>
            <a:ext cx="330889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AI expansion &amp; growth system scaling.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90-DAY LAUNCH ROADMAP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2950815"/>
            <a:ext cx="845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427065"/>
            <a:ext cx="845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2775" y="3903315"/>
            <a:ext cx="8458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52775" y="2950815"/>
            <a:ext cx="296034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2775" y="3427065"/>
            <a:ext cx="21145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52775" y="3903315"/>
            <a:ext cx="169158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 txBox="1"/>
          <p:nvPr/>
        </p:nvSpPr>
        <p:spPr>
          <a:xfrm>
            <a:off x="581025" y="45224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Total Monthly Estimate: </a:t>
            </a:r>
            <a:r>
              <a:rPr lang="en-US" sz="18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~$4,300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581025" y="2998440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Creator Collabs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581025" y="3474690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Social Media Ads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581025" y="3950940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Content Production</a:t>
            </a:r>
            <a:endParaRPr/>
          </a:p>
        </p:txBody>
      </p:sp>
      <p:sp>
        <p:nvSpPr>
          <p:cNvPr id="388" name="Google Shape;388;p3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ESTIMATED LAUNCH BUDGET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90862"/>
            <a:ext cx="3549699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224" y="3090862"/>
            <a:ext cx="3549699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3090862"/>
            <a:ext cx="3549699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2"/>
          <p:cNvSpPr txBox="1"/>
          <p:nvPr/>
        </p:nvSpPr>
        <p:spPr>
          <a:xfrm>
            <a:off x="876300" y="3386137"/>
            <a:ext cx="29591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ROI</a:t>
            </a:r>
            <a:endParaRPr/>
          </a:p>
        </p:txBody>
      </p:sp>
      <p:sp>
        <p:nvSpPr>
          <p:cNvPr id="398" name="Google Shape;398;p32"/>
          <p:cNvSpPr txBox="1"/>
          <p:nvPr/>
        </p:nvSpPr>
        <p:spPr>
          <a:xfrm>
            <a:off x="876300" y="4148137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Reduced Trial-and-Error</a:t>
            </a:r>
            <a:endParaRPr/>
          </a:p>
        </p:txBody>
      </p:sp>
      <p:sp>
        <p:nvSpPr>
          <p:cNvPr id="399" name="Google Shape;399;p32"/>
          <p:cNvSpPr txBox="1"/>
          <p:nvPr/>
        </p:nvSpPr>
        <p:spPr>
          <a:xfrm>
            <a:off x="4616499" y="3386137"/>
            <a:ext cx="29591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BI</a:t>
            </a:r>
            <a:endParaRPr/>
          </a:p>
        </p:txBody>
      </p:sp>
      <p:sp>
        <p:nvSpPr>
          <p:cNvPr id="400" name="Google Shape;400;p32"/>
          <p:cNvSpPr txBox="1"/>
          <p:nvPr/>
        </p:nvSpPr>
        <p:spPr>
          <a:xfrm>
            <a:off x="4616499" y="4148137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Data-Driven Publishing</a:t>
            </a:r>
            <a:endParaRPr/>
          </a:p>
        </p:txBody>
      </p:sp>
      <p:sp>
        <p:nvSpPr>
          <p:cNvPr id="401" name="Google Shape;401;p32"/>
          <p:cNvSpPr txBox="1"/>
          <p:nvPr/>
        </p:nvSpPr>
        <p:spPr>
          <a:xfrm>
            <a:off x="8356699" y="3386137"/>
            <a:ext cx="29591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8356699" y="4148137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Scalable Operations</a:t>
            </a:r>
            <a:endParaRPr/>
          </a:p>
        </p:txBody>
      </p:sp>
      <p:sp>
        <p:nvSpPr>
          <p:cNvPr id="403" name="Google Shape;403;p3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VALUE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67012"/>
            <a:ext cx="53244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67012"/>
            <a:ext cx="53244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3"/>
          <p:cNvSpPr txBox="1"/>
          <p:nvPr/>
        </p:nvSpPr>
        <p:spPr>
          <a:xfrm>
            <a:off x="962025" y="3186112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Current Limitations</a:t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6667500" y="3186112"/>
            <a:ext cx="479059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876300" y="37766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414" name="Google Shape;414;p33"/>
          <p:cNvSpPr txBox="1"/>
          <p:nvPr/>
        </p:nvSpPr>
        <p:spPr>
          <a:xfrm>
            <a:off x="962025" y="37766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Moderate predictive accuracy</a:t>
            </a:r>
            <a:endParaRPr/>
          </a:p>
        </p:txBody>
      </p:sp>
      <p:sp>
        <p:nvSpPr>
          <p:cNvPr id="415" name="Google Shape;415;p33"/>
          <p:cNvSpPr txBox="1"/>
          <p:nvPr/>
        </p:nvSpPr>
        <p:spPr>
          <a:xfrm>
            <a:off x="876300" y="40814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416" name="Google Shape;416;p33"/>
          <p:cNvSpPr txBox="1"/>
          <p:nvPr/>
        </p:nvSpPr>
        <p:spPr>
          <a:xfrm>
            <a:off x="962025" y="40814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Limited initial dataset size</a:t>
            </a:r>
            <a:endParaRPr/>
          </a:p>
        </p:txBody>
      </p:sp>
      <p:sp>
        <p:nvSpPr>
          <p:cNvPr id="417" name="Google Shape;417;p33"/>
          <p:cNvSpPr txBox="1"/>
          <p:nvPr/>
        </p:nvSpPr>
        <p:spPr>
          <a:xfrm>
            <a:off x="876300" y="43862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418" name="Google Shape;418;p33"/>
          <p:cNvSpPr txBox="1"/>
          <p:nvPr/>
        </p:nvSpPr>
        <p:spPr>
          <a:xfrm>
            <a:off x="962025" y="43862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No real-time trend ingestion</a:t>
            </a:r>
            <a:endParaRPr/>
          </a:p>
        </p:txBody>
      </p:sp>
      <p:sp>
        <p:nvSpPr>
          <p:cNvPr id="419" name="Google Shape;419;p33"/>
          <p:cNvSpPr txBox="1"/>
          <p:nvPr/>
        </p:nvSpPr>
        <p:spPr>
          <a:xfrm>
            <a:off x="6581775" y="37766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6667500" y="37766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Real-time trend scraping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6581775" y="40814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422" name="Google Shape;422;p33"/>
          <p:cNvSpPr txBox="1"/>
          <p:nvPr/>
        </p:nvSpPr>
        <p:spPr>
          <a:xfrm>
            <a:off x="6667500" y="40814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Transformer-based AI systems</a:t>
            </a:r>
            <a:endParaRPr/>
          </a:p>
        </p:txBody>
      </p:sp>
      <p:sp>
        <p:nvSpPr>
          <p:cNvPr id="423" name="Google Shape;423;p33"/>
          <p:cNvSpPr txBox="1"/>
          <p:nvPr/>
        </p:nvSpPr>
        <p:spPr>
          <a:xfrm>
            <a:off x="6581775" y="43862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/>
          </a:p>
        </p:txBody>
      </p:sp>
      <p:sp>
        <p:nvSpPr>
          <p:cNvPr id="424" name="Google Shape;424;p33"/>
          <p:cNvSpPr txBox="1"/>
          <p:nvPr/>
        </p:nvSpPr>
        <p:spPr>
          <a:xfrm>
            <a:off x="6667500" y="4386262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Backend API architecture scaling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LIMITATIONS &amp; FUTURE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38450"/>
            <a:ext cx="1102995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4"/>
          <p:cNvSpPr txBox="1"/>
          <p:nvPr/>
        </p:nvSpPr>
        <p:spPr>
          <a:xfrm>
            <a:off x="962025" y="3257550"/>
            <a:ext cx="10267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"Historacle.ai is not merely an app, but an </a:t>
            </a:r>
            <a:r>
              <a:rPr lang="en-US" sz="18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AI-powered historical intelligence experience</a:t>
            </a:r>
            <a:r>
              <a:rPr lang="en-US" sz="18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581025" y="15621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Prioritize Question-based hooks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581025" y="2009775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Position as "Historical Intelligence"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6286500" y="156210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Use AI-assisted optimization</a:t>
            </a:r>
            <a:endParaRPr/>
          </a:p>
        </p:txBody>
      </p:sp>
      <p:sp>
        <p:nvSpPr>
          <p:cNvPr id="436" name="Google Shape;436;p34"/>
          <p:cNvSpPr txBox="1"/>
          <p:nvPr/>
        </p:nvSpPr>
        <p:spPr>
          <a:xfrm>
            <a:off x="6286500" y="2009775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Monitor viral anomalies daily</a:t>
            </a:r>
            <a:endParaRPr/>
          </a:p>
        </p:txBody>
      </p:sp>
      <p:pic>
        <p:nvPicPr>
          <p:cNvPr id="437" name="Google Shape;43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6144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621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6144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62162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RECOMMENDATIONS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5"/>
          <p:cNvSpPr/>
          <p:nvPr/>
        </p:nvSpPr>
        <p:spPr>
          <a:xfrm>
            <a:off x="5619750" y="2496591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5"/>
          <p:cNvSpPr txBox="1"/>
          <p:nvPr/>
        </p:nvSpPr>
        <p:spPr>
          <a:xfrm>
            <a:off x="305276" y="2820441"/>
            <a:ext cx="115814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449" name="Google Shape;449;p35"/>
          <p:cNvSpPr txBox="1"/>
          <p:nvPr/>
        </p:nvSpPr>
        <p:spPr>
          <a:xfrm>
            <a:off x="2286000" y="353481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From a dashboard to a </a:t>
            </a:r>
            <a:r>
              <a:rPr lang="en-US" sz="1800" b="0" i="0" u="none" strike="noStrike" cap="none">
                <a:solidFill>
                  <a:srgbClr val="C5A0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Decision-Support Platform</a:t>
            </a:r>
            <a:r>
              <a:rPr lang="en-US" sz="18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. HistOracle predicts, optimizes, and operationalizes strategy.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 txBox="1"/>
          <p:nvPr/>
        </p:nvSpPr>
        <p:spPr>
          <a:xfrm>
            <a:off x="305276" y="2122289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456" name="Google Shape;456;p36"/>
          <p:cNvSpPr txBox="1"/>
          <p:nvPr/>
        </p:nvSpPr>
        <p:spPr>
          <a:xfrm>
            <a:off x="581025" y="4126110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6"/>
          <p:cNvSpPr txBox="1"/>
          <p:nvPr/>
        </p:nvSpPr>
        <p:spPr>
          <a:xfrm>
            <a:off x="581025" y="4430910"/>
            <a:ext cx="11030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Prepared By:</a:t>
            </a:r>
            <a:r>
              <a:rPr lang="en-US" sz="1500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 Sai Venkata Nagendra Abhay Raj Gurram</a:t>
            </a:r>
            <a:endParaRPr sz="1500">
              <a:solidFill>
                <a:srgbClr val="D1D1D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1D1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</Words>
  <Application>Microsoft Macintosh PowerPoint</Application>
  <PresentationFormat>Widescreen</PresentationFormat>
  <Paragraphs>181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Poppins</vt:lpstr>
      <vt:lpstr>Arial</vt:lpstr>
      <vt:lpstr>Poppins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Venkata Nagendra Abhay Raj Gurram</cp:lastModifiedBy>
  <cp:revision>1</cp:revision>
  <dcterms:modified xsi:type="dcterms:W3CDTF">2026-05-11T21:52:07Z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2026-05-11T21:52:02Z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4b4c0ba4-a378-4e71-8595-aa421cb59a69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50, 3, 0, 1</vt:lpwstr>
  </property>
</Properties>
</file>