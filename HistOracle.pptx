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6256000" cy="9144000"/>
  <p:notesSz cx="9144000" cy="16256000"/>
  <p:embeddedFontLst>
    <p:embeddedFont>
      <p:font typeface="Liter" panose="02000503030000020004" pitchFamily="2" charset="0"/>
      <p:regular r:id="rId19"/>
    </p:embeddedFont>
    <p:embeddedFont>
      <p:font typeface="Quattrocento Sans" panose="020B0502050000020003" pitchFamily="34" charset="0"/>
      <p:regular r:id="rId20"/>
      <p:bold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4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vil2el6dzi4q/mnt/agents/output/historacle/images/2_Futuristic_Glowing_Brain_Made_of.png"/>
          <p:cNvPicPr>
            <a:picLocks noChangeAspect="1"/>
          </p:cNvPicPr>
          <p:nvPr/>
        </p:nvPicPr>
        <p:blipFill>
          <a:blip r:embed="rId3"/>
          <a:srcRect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952" y="31750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0A0F">
                  <a:alpha val="0"/>
                </a:srgbClr>
              </a:gs>
              <a:gs pos="40000">
                <a:srgbClr val="0A0A0F">
                  <a:alpha val="53000"/>
                </a:srgbClr>
              </a:gs>
              <a:gs pos="100000">
                <a:srgbClr val="0A0A0F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778000" y="355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kern="0" spc="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HISTORACLE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69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5207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50423" y="4622800"/>
            <a:ext cx="2540000" cy="254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18000" y="723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6B6B75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Sai Venkata Nagendra Abhay Raj Gurram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6B6B75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BIA 686 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CREATION IS BROKEN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698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Creators rely on trial-and-error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698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structured way to predict viral success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429000"/>
            <a:ext cx="698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time investment with low certainty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318000"/>
            <a:ext cx="698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Lack of data-driven decision support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461000"/>
            <a:ext cx="14732000" cy="1397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50800" cy="1397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5651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60325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Inconsistent performance and wasted effort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IF CONTENT COULD BE PREDICTED?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high-performing 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 content strategy before execution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556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risk and increase ROI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826000"/>
            <a:ext cx="14732000" cy="1651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4826000"/>
            <a:ext cx="50800" cy="1651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IN MARKET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5397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integrated system combining analytics + prediction + content generation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HISTORACLE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0A0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BI &amp; ML-powered system that: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3429000" cy="1778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022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Viral potential (Top-Tier Probability)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1968500"/>
            <a:ext cx="3429000" cy="1778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9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9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30226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performance (View Tier)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1968500"/>
            <a:ext cx="3429000" cy="1778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56600" y="215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2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30226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Hooks and formats for maximum impact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1968500"/>
            <a:ext cx="3429000" cy="1778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065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2497" y="14526"/>
                </a:moveTo>
                <a:lnTo>
                  <a:pt x="252730" y="54293"/>
                </a:lnTo>
                <a:lnTo>
                  <a:pt x="352187" y="153749"/>
                </a:lnTo>
                <a:lnTo>
                  <a:pt x="391954" y="113983"/>
                </a:lnTo>
                <a:cubicBezTo>
                  <a:pt x="409337" y="96599"/>
                  <a:pt x="409337" y="68501"/>
                  <a:pt x="391954" y="51117"/>
                </a:cubicBezTo>
                <a:lnTo>
                  <a:pt x="355362" y="14526"/>
                </a:lnTo>
                <a:cubicBezTo>
                  <a:pt x="337979" y="-2857"/>
                  <a:pt x="309880" y="-2857"/>
                  <a:pt x="292497" y="14526"/>
                </a:cubicBezTo>
                <a:close/>
                <a:moveTo>
                  <a:pt x="221694" y="77153"/>
                </a:moveTo>
                <a:lnTo>
                  <a:pt x="221298" y="77232"/>
                </a:lnTo>
                <a:lnTo>
                  <a:pt x="106918" y="111522"/>
                </a:lnTo>
                <a:cubicBezTo>
                  <a:pt x="91123" y="116284"/>
                  <a:pt x="78581" y="128349"/>
                  <a:pt x="73343" y="144066"/>
                </a:cubicBezTo>
                <a:lnTo>
                  <a:pt x="3016" y="353854"/>
                </a:lnTo>
                <a:cubicBezTo>
                  <a:pt x="714" y="360759"/>
                  <a:pt x="1508" y="368300"/>
                  <a:pt x="5001" y="374491"/>
                </a:cubicBezTo>
                <a:lnTo>
                  <a:pt x="128349" y="251142"/>
                </a:lnTo>
                <a:cubicBezTo>
                  <a:pt x="127476" y="247967"/>
                  <a:pt x="127079" y="244713"/>
                  <a:pt x="127079" y="241300"/>
                </a:cubicBezTo>
                <a:cubicBezTo>
                  <a:pt x="127079" y="220266"/>
                  <a:pt x="144145" y="203200"/>
                  <a:pt x="165179" y="203200"/>
                </a:cubicBezTo>
                <a:cubicBezTo>
                  <a:pt x="186214" y="203200"/>
                  <a:pt x="203279" y="220266"/>
                  <a:pt x="203279" y="241300"/>
                </a:cubicBezTo>
                <a:cubicBezTo>
                  <a:pt x="203279" y="262334"/>
                  <a:pt x="186214" y="279400"/>
                  <a:pt x="165179" y="279400"/>
                </a:cubicBezTo>
                <a:cubicBezTo>
                  <a:pt x="161766" y="279400"/>
                  <a:pt x="158433" y="278924"/>
                  <a:pt x="155337" y="278130"/>
                </a:cubicBezTo>
                <a:lnTo>
                  <a:pt x="31988" y="401399"/>
                </a:lnTo>
                <a:cubicBezTo>
                  <a:pt x="38179" y="404892"/>
                  <a:pt x="45641" y="405686"/>
                  <a:pt x="52626" y="403384"/>
                </a:cubicBezTo>
                <a:lnTo>
                  <a:pt x="262414" y="333058"/>
                </a:lnTo>
                <a:cubicBezTo>
                  <a:pt x="278051" y="327819"/>
                  <a:pt x="290195" y="315278"/>
                  <a:pt x="294958" y="299482"/>
                </a:cubicBezTo>
                <a:lnTo>
                  <a:pt x="329248" y="185103"/>
                </a:lnTo>
                <a:lnTo>
                  <a:pt x="329327" y="184706"/>
                </a:lnTo>
                <a:lnTo>
                  <a:pt x="221774" y="77153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65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65000" y="30226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High-impact content scripts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318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000" y="4318000"/>
            <a:ext cx="508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3000" y="4508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a dashboard. A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decision-support system for content strategy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62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9500" y="1778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177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1590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600+ content dataset | Views, engagement, topic, hook, format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1000" y="2921000"/>
            <a:ext cx="254000" cy="254000"/>
          </a:xfrm>
          <a:prstGeom prst="triangle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302000"/>
            <a:ext cx="762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95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41500" y="3429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41500" y="38100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(Viral Score) | Clustering (Content Tiers)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4572000"/>
            <a:ext cx="254000" cy="254000"/>
          </a:xfrm>
          <a:prstGeom prst="triangle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2000" y="4953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2000" y="4953000"/>
            <a:ext cx="762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9500" y="5080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41500" y="508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41500" y="54610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Classifier | Viral prediction + view tier classification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6223000"/>
            <a:ext cx="254000" cy="254000"/>
          </a:xfrm>
          <a:prstGeom prst="triangle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000" y="6604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6604000"/>
            <a:ext cx="762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9500" y="6731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41500" y="673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41500" y="71120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Streamlit dashboard | Content Agent (script generator)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TECHNIQUES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0A0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Business Intelligence &amp; Analytics Methods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5720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Preprocessing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968500"/>
            <a:ext cx="45720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88000" y="19685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42000" y="2095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Viral Score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14000" y="1968500"/>
            <a:ext cx="50800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414000" y="19685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68000" y="2095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Content Segmentation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65500"/>
            <a:ext cx="45720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2000" y="33655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6000" y="3492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Prediction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3365500"/>
            <a:ext cx="45720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88000" y="33655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42000" y="3492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 Dashboards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508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5334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Converts raw data into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6858000" cy="355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50800" cy="3556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968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VARIABLES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765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Platform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Topic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Hook Type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Content Format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4000" y="3302000"/>
            <a:ext cx="762000" cy="0"/>
          </a:xfrm>
          <a:prstGeom prst="straightConnector1">
            <a:avLst/>
          </a:prstGeom>
          <a:noFill/>
          <a:ln w="38100">
            <a:solidFill>
              <a:srgbClr val="D4A84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90000" y="1778000"/>
            <a:ext cx="6604000" cy="355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90000" y="1778000"/>
            <a:ext cx="50800" cy="3556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71000" y="1968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0" y="2476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Top-Tier Probability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Tier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(Low → Breakout)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CLASSIFICATION BEATS REGRESSION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A0A0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9685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Social media views are highly volatile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Regression model: unreliable results (R² &lt; 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55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000500"/>
            <a:ext cx="14732000" cy="1778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4000500"/>
            <a:ext cx="50800" cy="1778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4191000"/>
            <a:ext cx="1397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Switched to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classification-based approach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Improved stability and interpretability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6223000"/>
            <a:ext cx="7048500" cy="101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795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87500" y="6350000"/>
            <a:ext cx="596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reliable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1500" y="6223000"/>
            <a:ext cx="7048500" cy="101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9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17000" y="6350000"/>
            <a:ext cx="596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business-relevant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VIRAL PREDICTOR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A0A0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968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likelihood of viral success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Recommends better hooks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238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confidence level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318000"/>
            <a:ext cx="14732000" cy="2032000"/>
          </a:xfrm>
          <a:prstGeom prst="rect">
            <a:avLst/>
          </a:prstGeom>
          <a:solidFill>
            <a:srgbClr val="14141B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4318000"/>
            <a:ext cx="50800" cy="2032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450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953000"/>
            <a:ext cx="1397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"Switching hook from </a:t>
            </a:r>
            <a:r>
              <a:rPr lang="en-US" sz="2200" b="1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Mystery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2200" b="1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probability from </a:t>
            </a:r>
            <a:r>
              <a:rPr lang="en-US" sz="2200" b="1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31%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2200" b="1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0A0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AI-Powered Script Generator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3429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8225" y="222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BREAK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022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Disrupt expectations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2032000"/>
            <a:ext cx="3429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9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9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CURIOSITY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3022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open loops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2032000"/>
            <a:ext cx="3429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04225" y="222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2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3022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emotional stakes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2032000"/>
            <a:ext cx="3429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042775" y="222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7388" y="60563"/>
                </a:moveTo>
                <a:cubicBezTo>
                  <a:pt x="223778" y="55493"/>
                  <a:pt x="227806" y="47645"/>
                  <a:pt x="227806" y="38894"/>
                </a:cubicBezTo>
                <a:cubicBezTo>
                  <a:pt x="227806" y="23545"/>
                  <a:pt x="215374" y="11112"/>
                  <a:pt x="200025" y="11112"/>
                </a:cubicBezTo>
                <a:cubicBezTo>
                  <a:pt x="184676" y="11112"/>
                  <a:pt x="172244" y="23545"/>
                  <a:pt x="172244" y="38894"/>
                </a:cubicBezTo>
                <a:cubicBezTo>
                  <a:pt x="172244" y="47645"/>
                  <a:pt x="176341" y="55493"/>
                  <a:pt x="182662" y="60563"/>
                </a:cubicBezTo>
                <a:lnTo>
                  <a:pt x="135156" y="135295"/>
                </a:lnTo>
                <a:cubicBezTo>
                  <a:pt x="128210" y="146199"/>
                  <a:pt x="113417" y="148908"/>
                  <a:pt x="103068" y="141129"/>
                </a:cubicBezTo>
                <a:lnTo>
                  <a:pt x="61744" y="110222"/>
                </a:lnTo>
                <a:cubicBezTo>
                  <a:pt x="64869" y="105777"/>
                  <a:pt x="66675" y="100290"/>
                  <a:pt x="66675" y="94456"/>
                </a:cubicBezTo>
                <a:cubicBezTo>
                  <a:pt x="66675" y="79107"/>
                  <a:pt x="54243" y="66675"/>
                  <a:pt x="38894" y="66675"/>
                </a:cubicBezTo>
                <a:cubicBezTo>
                  <a:pt x="23545" y="66675"/>
                  <a:pt x="11112" y="79107"/>
                  <a:pt x="11112" y="94456"/>
                </a:cubicBezTo>
                <a:cubicBezTo>
                  <a:pt x="11112" y="109597"/>
                  <a:pt x="23267" y="121960"/>
                  <a:pt x="38338" y="122238"/>
                </a:cubicBezTo>
                <a:lnTo>
                  <a:pt x="60980" y="273298"/>
                </a:lnTo>
                <a:cubicBezTo>
                  <a:pt x="64244" y="295037"/>
                  <a:pt x="82927" y="311150"/>
                  <a:pt x="104944" y="311150"/>
                </a:cubicBezTo>
                <a:lnTo>
                  <a:pt x="295106" y="311150"/>
                </a:lnTo>
                <a:cubicBezTo>
                  <a:pt x="317123" y="311150"/>
                  <a:pt x="335806" y="295037"/>
                  <a:pt x="339070" y="273298"/>
                </a:cubicBezTo>
                <a:lnTo>
                  <a:pt x="361712" y="122238"/>
                </a:lnTo>
                <a:cubicBezTo>
                  <a:pt x="376783" y="121960"/>
                  <a:pt x="388938" y="109597"/>
                  <a:pt x="388938" y="94456"/>
                </a:cubicBezTo>
                <a:cubicBezTo>
                  <a:pt x="388938" y="79107"/>
                  <a:pt x="376505" y="66675"/>
                  <a:pt x="361156" y="66675"/>
                </a:cubicBezTo>
                <a:cubicBezTo>
                  <a:pt x="345807" y="66675"/>
                  <a:pt x="333375" y="79107"/>
                  <a:pt x="333375" y="94456"/>
                </a:cubicBezTo>
                <a:cubicBezTo>
                  <a:pt x="333375" y="100290"/>
                  <a:pt x="335181" y="105777"/>
                  <a:pt x="338306" y="110222"/>
                </a:cubicBezTo>
                <a:lnTo>
                  <a:pt x="297051" y="141198"/>
                </a:lnTo>
                <a:cubicBezTo>
                  <a:pt x="286703" y="148977"/>
                  <a:pt x="271909" y="146268"/>
                  <a:pt x="264964" y="135364"/>
                </a:cubicBezTo>
                <a:lnTo>
                  <a:pt x="217388" y="60563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65000" y="2692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65000" y="3022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credibility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937000"/>
            <a:ext cx="14732000" cy="1270000"/>
          </a:xfrm>
          <a:prstGeom prst="rect">
            <a:avLst/>
          </a:prstGeom>
          <a:solidFill>
            <a:srgbClr val="14141B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000" y="3937000"/>
            <a:ext cx="50800" cy="1270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3000" y="412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508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Ready-to-post viral script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0485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9500" y="1841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Question hooks outperform other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0" y="1651000"/>
            <a:ext cx="70485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91500" y="16510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9000" y="1841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Short-form content dominates engagement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048000"/>
            <a:ext cx="70485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0480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9500" y="3238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Certain topics consistently outperform others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1500" y="3048000"/>
            <a:ext cx="7048500" cy="1143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91500" y="3048000"/>
            <a:ext cx="50800" cy="1143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9000" y="3238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Platform-specific strategies are critical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826000"/>
            <a:ext cx="14732000" cy="1524000"/>
          </a:xfrm>
          <a:prstGeom prst="rect">
            <a:avLst/>
          </a:prstGeom>
          <a:solidFill>
            <a:srgbClr val="14141B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2000" y="4826000"/>
            <a:ext cx="50800" cy="1524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5016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53975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success is predictable when structured correctly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BENEFITS?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7048500" cy="355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50800" cy="3556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Content creators</a:t>
            </a:r>
            <a:endParaRPr lang="en-US" sz="1600" dirty="0"/>
          </a:p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Influencers</a:t>
            </a:r>
            <a:endParaRPr lang="en-US" sz="1600" dirty="0"/>
          </a:p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Marketing teams</a:t>
            </a:r>
            <a:endParaRPr lang="en-US" sz="1600" dirty="0"/>
          </a:p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EdTech platforms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915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DELIVERED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91500" y="2032000"/>
            <a:ext cx="7048500" cy="355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91500" y="2032000"/>
            <a:ext cx="50800" cy="3556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72500" y="2286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content trial-and-error</a:t>
            </a:r>
            <a:endParaRPr lang="en-US" sz="1600" dirty="0"/>
          </a:p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 probability of viral success</a:t>
            </a:r>
            <a:endParaRPr lang="en-US" sz="1600" dirty="0"/>
          </a:p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Save time and resources</a:t>
            </a:r>
            <a:endParaRPr lang="en-US" sz="1600" dirty="0"/>
          </a:p>
          <a:p>
            <a:pPr>
              <a:lnSpc>
                <a:spcPct val="22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data-driven strategy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50800" cy="889000"/>
          </a:xfrm>
          <a:prstGeom prst="rect">
            <a:avLst/>
          </a:prstGeom>
          <a:solidFill>
            <a:srgbClr val="A0A0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778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accuracy ~53% (needs improvement)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730500"/>
            <a:ext cx="14732000" cy="889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50800" cy="889000"/>
          </a:xfrm>
          <a:prstGeom prst="rect">
            <a:avLst/>
          </a:prstGeom>
          <a:solidFill>
            <a:srgbClr val="A0A0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8575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NLP / text-based feature extraction yet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14732000" cy="889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810000"/>
            <a:ext cx="50800" cy="889000"/>
          </a:xfrm>
          <a:prstGeom prst="rect">
            <a:avLst/>
          </a:prstGeom>
          <a:solidFill>
            <a:srgbClr val="A0A0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937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dataset size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889500"/>
            <a:ext cx="14732000" cy="8890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2000" y="4889500"/>
            <a:ext cx="50800" cy="889000"/>
          </a:xfrm>
          <a:prstGeom prst="rect">
            <a:avLst/>
          </a:prstGeom>
          <a:solidFill>
            <a:srgbClr val="A0A0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50165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trend integration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223000"/>
            <a:ext cx="14732000" cy="1016000"/>
          </a:xfrm>
          <a:prstGeom prst="rect">
            <a:avLst/>
          </a:prstGeom>
          <a:solidFill>
            <a:srgbClr val="14141B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2000" y="6223000"/>
            <a:ext cx="50800" cy="1016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64135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= Credibility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4732000" cy="8255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50800" cy="8255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778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NLP-based text understanding (TF-IDF / embeddings)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14732000" cy="8255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2667000"/>
            <a:ext cx="50800" cy="8255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794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trend scraping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83000"/>
            <a:ext cx="14732000" cy="8255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683000"/>
            <a:ext cx="50800" cy="8255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810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model integration (Claude / OpenAI)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699000"/>
            <a:ext cx="14732000" cy="8255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2000" y="4699000"/>
            <a:ext cx="50800" cy="8255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4826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architecture (API + database)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715000"/>
            <a:ext cx="14732000" cy="825500"/>
          </a:xfrm>
          <a:prstGeom prst="rect">
            <a:avLst/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2000" y="5715000"/>
            <a:ext cx="50800" cy="8255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5842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Scalable deployment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HISTORACLE IS NOT JUST A TOOL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IT'S A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 + ML +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Transforms content creation into a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process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14732000" cy="1778000"/>
          </a:xfrm>
          <a:prstGeom prst="rect">
            <a:avLst/>
          </a:prstGeom>
          <a:solidFill>
            <a:srgbClr val="14141B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4064000"/>
            <a:ext cx="76200" cy="1778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0000" y="4318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 DON'T GUESS WHAT WORKS.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3200" kern="0" spc="3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PREDICT IT.</a:t>
            </a:r>
            <a:r>
              <a:rPr lang="en-US" sz="32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6B7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556000"/>
            <a:ext cx="2540000" cy="381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48000" y="381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kern="0" spc="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4889500"/>
            <a:ext cx="2540000" cy="254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88000" y="5207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300" dirty="0">
                <a:solidFill>
                  <a:srgbClr val="A0A0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Macintosh PowerPoint</Application>
  <PresentationFormat>Custom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QuattrocentoSans</vt:lpstr>
      <vt:lpstr>Liter</vt:lpstr>
      <vt:lpstr>Times New Roman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HistOracle</dc:title>
  <dc:subject>HistOracle</dc:subject>
  <dc:creator>Kimi</dc:creator>
  <cp:lastModifiedBy>Sai Venkata Nagendra Abhay Raj Gurram</cp:lastModifiedBy>
  <cp:revision>2</cp:revision>
  <dcterms:created xsi:type="dcterms:W3CDTF">2026-05-05T01:28:31Z</dcterms:created>
  <dcterms:modified xsi:type="dcterms:W3CDTF">2026-05-08T22:35:00Z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{"Label":"HistOracle","ContentProducer":"001191110108MACG2KBH8F10000","ProduceID":"19df5b94-7ed2-8554-8000-0000bbfd9d9a","ReservedCode1":"","ContentPropagator":"001191110108MACG2KBH8F20000","PropagateID":"19df5b94-7ed2-8554-8000-0000bbfd9d9a","ReservedCode2":""}</vt:lpwstr>
  </property>
  <property fmtid="{D5CDD505-2E9C-101B-9397-08002B2CF9AE}" pid="3" name="MSIP_Label_a73fd474-4f3c-44ed-88fb-5cc4bd2471bf_Enabled">
    <vt:lpwstr>true</vt:lpwstr>
  </property>
  <property fmtid="{D5CDD505-2E9C-101B-9397-08002B2CF9AE}" pid="4" name="MSIP_Label_a73fd474-4f3c-44ed-88fb-5cc4bd2471bf_SetDate">
    <vt:lpwstr>2026-05-08T22:34:57Z</vt:lpwstr>
  </property>
  <property fmtid="{D5CDD505-2E9C-101B-9397-08002B2CF9AE}" pid="5" name="MSIP_Label_a73fd474-4f3c-44ed-88fb-5cc4bd2471bf_Method">
    <vt:lpwstr>Standard</vt:lpwstr>
  </property>
  <property fmtid="{D5CDD505-2E9C-101B-9397-08002B2CF9AE}" pid="6" name="MSIP_Label_a73fd474-4f3c-44ed-88fb-5cc4bd2471bf_Name">
    <vt:lpwstr>defa4170-0d19-0005-0004-bc88714345d2</vt:lpwstr>
  </property>
  <property fmtid="{D5CDD505-2E9C-101B-9397-08002B2CF9AE}" pid="7" name="MSIP_Label_a73fd474-4f3c-44ed-88fb-5cc4bd2471bf_SiteId">
    <vt:lpwstr>8d1a69ec-03b5-4345-ae21-dad112f5fb4f</vt:lpwstr>
  </property>
  <property fmtid="{D5CDD505-2E9C-101B-9397-08002B2CF9AE}" pid="8" name="MSIP_Label_a73fd474-4f3c-44ed-88fb-5cc4bd2471bf_ActionId">
    <vt:lpwstr>04b69293-5f96-4c8e-b931-28d50a34792d</vt:lpwstr>
  </property>
  <property fmtid="{D5CDD505-2E9C-101B-9397-08002B2CF9AE}" pid="9" name="MSIP_Label_a73fd474-4f3c-44ed-88fb-5cc4bd2471bf_ContentBits">
    <vt:lpwstr>0</vt:lpwstr>
  </property>
  <property fmtid="{D5CDD505-2E9C-101B-9397-08002B2CF9AE}" pid="10" name="MSIP_Label_a73fd474-4f3c-44ed-88fb-5cc4bd2471bf_Tag">
    <vt:lpwstr>50, 3, 0, 1</vt:lpwstr>
  </property>
</Properties>
</file>